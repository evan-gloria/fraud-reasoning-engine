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0" r:id="rId1"/>
  </p:sld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73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2416" y="2514601"/>
            <a:ext cx="6600451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2416" y="4777380"/>
            <a:ext cx="6600451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8"/>
          <p:cNvSpPr/>
          <p:nvPr/>
        </p:nvSpPr>
        <p:spPr bwMode="auto">
          <a:xfrm>
            <a:off x="-31719" y="4321158"/>
            <a:ext cx="1395473" cy="781781"/>
          </a:xfrm>
          <a:custGeom>
            <a:avLst/>
            <a:gdLst/>
            <a:ahLst/>
            <a:cxnLst/>
            <a:rect l="l" t="t" r="r" b="b"/>
            <a:pathLst>
              <a:path w="8042" h="10000">
                <a:moveTo>
                  <a:pt x="5799" y="10000"/>
                </a:moveTo>
                <a:cubicBezTo>
                  <a:pt x="5880" y="10000"/>
                  <a:pt x="5934" y="9940"/>
                  <a:pt x="5961" y="9880"/>
                </a:cubicBezTo>
                <a:cubicBezTo>
                  <a:pt x="5961" y="9820"/>
                  <a:pt x="5988" y="9820"/>
                  <a:pt x="5988" y="9820"/>
                </a:cubicBezTo>
                <a:lnTo>
                  <a:pt x="8042" y="5260"/>
                </a:lnTo>
                <a:cubicBezTo>
                  <a:pt x="8096" y="5140"/>
                  <a:pt x="8096" y="4901"/>
                  <a:pt x="8042" y="4721"/>
                </a:cubicBezTo>
                <a:lnTo>
                  <a:pt x="5988" y="221"/>
                </a:lnTo>
                <a:cubicBezTo>
                  <a:pt x="5988" y="160"/>
                  <a:pt x="5961" y="160"/>
                  <a:pt x="5961" y="160"/>
                </a:cubicBezTo>
                <a:cubicBezTo>
                  <a:pt x="5934" y="101"/>
                  <a:pt x="5880" y="41"/>
                  <a:pt x="5799" y="41"/>
                </a:cubicBezTo>
                <a:lnTo>
                  <a:pt x="18" y="0"/>
                </a:lnTo>
                <a:cubicBezTo>
                  <a:pt x="12" y="3330"/>
                  <a:pt x="6" y="6661"/>
                  <a:pt x="0" y="9991"/>
                </a:cubicBezTo>
                <a:lnTo>
                  <a:pt x="5799" y="1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23334" y="4529541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772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12808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2415" y="2133600"/>
            <a:ext cx="6591985" cy="377762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93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074562"/>
            <a:ext cx="6591985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3581400"/>
            <a:ext cx="659198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6183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2416" y="2136706"/>
            <a:ext cx="3197531" cy="376739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7307" y="2136706"/>
            <a:ext cx="3197093" cy="376739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2930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5352" y="2226626"/>
            <a:ext cx="287459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2415" y="2802888"/>
            <a:ext cx="3197532" cy="3105703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6154" y="2223398"/>
            <a:ext cx="28732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33715" y="2799660"/>
            <a:ext cx="3195680" cy="3105703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335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270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022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46088"/>
            <a:ext cx="2629584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3494" y="446089"/>
            <a:ext cx="3790906" cy="5414963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1598613"/>
            <a:ext cx="2629584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43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800600"/>
            <a:ext cx="6591985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2415" y="634965"/>
            <a:ext cx="6591985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367338"/>
            <a:ext cx="6591985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843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609600"/>
            <a:ext cx="6591985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807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15972" y="3505200"/>
            <a:ext cx="5653888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451971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438401"/>
            <a:ext cx="6591985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4543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688292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688292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361324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6" y="627407"/>
            <a:ext cx="6591984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591985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6916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7166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535" y="627406"/>
            <a:ext cx="1656132" cy="5283817"/>
          </a:xfrm>
        </p:spPr>
        <p:txBody>
          <a:bodyPr vert="eaVert" anchor="ctr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2416" y="627406"/>
            <a:ext cx="4716348" cy="528381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11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" y="228600"/>
            <a:ext cx="1981200" cy="6638628"/>
            <a:chOff x="2487613" y="285750"/>
            <a:chExt cx="2428875" cy="5654676"/>
          </a:xfrm>
        </p:grpSpPr>
        <p:sp>
          <p:nvSpPr>
            <p:cNvPr id="37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8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9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0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1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2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3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4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5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6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7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8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49" name="Group 48"/>
          <p:cNvGrpSpPr/>
          <p:nvPr/>
        </p:nvGrpSpPr>
        <p:grpSpPr>
          <a:xfrm>
            <a:off x="20421" y="749"/>
            <a:ext cx="1952272" cy="6852504"/>
            <a:chOff x="6627813" y="196102"/>
            <a:chExt cx="1952625" cy="5677649"/>
          </a:xfrm>
        </p:grpSpPr>
        <p:sp>
          <p:nvSpPr>
            <p:cNvPr id="50" name="Freeform 27"/>
            <p:cNvSpPr/>
            <p:nvPr/>
          </p:nvSpPr>
          <p:spPr bwMode="auto">
            <a:xfrm>
              <a:off x="6627813" y="19610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62" name="Rectangle 6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2133600"/>
            <a:ext cx="6591985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0" y="6135089"/>
            <a:ext cx="766380" cy="370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2415" y="6135809"/>
            <a:ext cx="57164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11228" y="787783"/>
            <a:ext cx="584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589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  <p:sldLayoutId id="2147483771" r:id="rId11"/>
    <p:sldLayoutId id="2147483772" r:id="rId12"/>
    <p:sldLayoutId id="2147483773" r:id="rId13"/>
    <p:sldLayoutId id="2147483774" r:id="rId14"/>
    <p:sldLayoutId id="2147483775" r:id="rId15"/>
    <p:sldLayoutId id="21474837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Fraud Transaction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t>Analysis of Credit Card Fraud in the Last 14 Days</a:t>
            </a:r>
          </a:p>
          <a:p>
            <a:r>
              <a:t>Generated by Fraud Reasoning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914400"/>
          </a:xfrm>
        </p:spPr>
        <p:txBody>
          <a:bodyPr>
            <a:normAutofit fontScale="90000"/>
          </a:bodyPr>
          <a:lstStyle/>
          <a:p>
            <a:r>
              <a:t>Summary of Fraud and Non-Fraud Transactions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4572000" cy="5029200"/>
          </a:xfrm>
        </p:spPr>
        <p:txBody>
          <a:bodyPr wrap="square"/>
          <a:lstStyle/>
          <a:p>
            <a:pPr>
              <a:defRPr sz="1800"/>
            </a:pPr>
            <a:r>
              <a:t>Out of 1040 transactions in the last 14 days, 1000 were legitimate.</a:t>
            </a:r>
          </a:p>
          <a:p>
            <a:pPr>
              <a:defRPr sz="1800"/>
            </a:pPr>
            <a:r>
              <a:t>A total of 40 transactions were identified as fraudulent.</a:t>
            </a:r>
          </a:p>
        </p:txBody>
      </p:sp>
      <p:pic>
        <p:nvPicPr>
          <p:cNvPr id="4" name="Picture 3" descr="chart_de41af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3474720" cy="27797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914400"/>
          </a:xfrm>
        </p:spPr>
        <p:txBody>
          <a:bodyPr/>
          <a:lstStyle/>
          <a:p>
            <a:r>
              <a:t>Fraud Transactions Per Currency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4572000" cy="5029200"/>
          </a:xfrm>
        </p:spPr>
        <p:txBody>
          <a:bodyPr wrap="square"/>
          <a:lstStyle/>
          <a:p>
            <a:pPr>
              <a:defRPr sz="1800"/>
            </a:pPr>
            <a:r>
              <a:t>The Australian Dollar (AUD) recorded the highest number of fraud transactions with 16 instances.</a:t>
            </a:r>
          </a:p>
          <a:p>
            <a:pPr>
              <a:defRPr sz="1800"/>
            </a:pPr>
            <a:r>
              <a:t>The US Dollar (USD) followed with 10 fraud transactions.</a:t>
            </a:r>
          </a:p>
          <a:p>
            <a:pPr>
              <a:defRPr sz="1800"/>
            </a:pPr>
            <a:r>
              <a:t>Other currencies like EUR, GBP, JPY, and SGD showed fewer fraud cases.</a:t>
            </a:r>
          </a:p>
        </p:txBody>
      </p:sp>
      <p:pic>
        <p:nvPicPr>
          <p:cNvPr id="4" name="Picture 3" descr="chart_0bf32b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3474720" cy="2026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914400"/>
          </a:xfrm>
        </p:spPr>
        <p:txBody>
          <a:bodyPr>
            <a:normAutofit fontScale="90000"/>
          </a:bodyPr>
          <a:lstStyle/>
          <a:p>
            <a:r>
              <a:t>Daily and Cumulative Fraud Transactions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4572000" cy="5029200"/>
          </a:xfrm>
        </p:spPr>
        <p:txBody>
          <a:bodyPr wrap="square"/>
          <a:lstStyle/>
          <a:p>
            <a:pPr>
              <a:defRPr sz="1800"/>
            </a:pPr>
            <a:r>
              <a:t>Daily fraud transactions fluctuated, with peaks of 6 cases on 2026-03-31, 2026-04-01, and 2026-04-06.</a:t>
            </a:r>
          </a:p>
          <a:p>
            <a:pPr>
              <a:defRPr sz="1800"/>
            </a:pPr>
            <a:r>
              <a:t>The cumulative number of fraud transactions reached 40 by 2026-04-12.</a:t>
            </a:r>
          </a:p>
        </p:txBody>
      </p:sp>
      <p:pic>
        <p:nvPicPr>
          <p:cNvPr id="4" name="Picture 3" descr="chart_2d7ace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3474720" cy="2026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914400"/>
          </a:xfrm>
        </p:spPr>
        <p:txBody>
          <a:bodyPr>
            <a:normAutofit fontScale="90000"/>
          </a:bodyPr>
          <a:lstStyle/>
          <a:p>
            <a:r>
              <a:t>Descriptive Statistics: Daily Fraud Transactions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4572000" cy="5029200"/>
          </a:xfrm>
        </p:spPr>
        <p:txBody>
          <a:bodyPr wrap="square">
            <a:normAutofit fontScale="92500" lnSpcReduction="20000"/>
          </a:bodyPr>
          <a:lstStyle/>
          <a:p>
            <a:pPr>
              <a:defRPr sz="1800"/>
            </a:pPr>
            <a:r>
              <a:t>**Average (Mean):** 3.08 fraud transactions per day.</a:t>
            </a:r>
          </a:p>
          <a:p>
            <a:pPr>
              <a:defRPr sz="1800"/>
            </a:pPr>
            <a:r>
              <a:t>**Median:** 3.0 fraud transactions per day.</a:t>
            </a:r>
          </a:p>
          <a:p>
            <a:pPr>
              <a:defRPr sz="1800"/>
            </a:pPr>
            <a:r>
              <a:t>**Standard Deviation:** 1.85, indicating moderate spread in daily fraud counts.</a:t>
            </a:r>
          </a:p>
          <a:p>
            <a:pPr>
              <a:defRPr sz="1800"/>
            </a:pPr>
            <a:r>
              <a:t>**Variance:** 3.41.</a:t>
            </a:r>
          </a:p>
          <a:p>
            <a:pPr>
              <a:defRPr sz="1800"/>
            </a:pPr>
            <a:r>
              <a:t>**1st Quartile (Q1):** 2.0, meaning 25% of days had 2 or fewer fraud transactions.</a:t>
            </a:r>
          </a:p>
          <a:p>
            <a:pPr>
              <a:defRPr sz="1800"/>
            </a:pPr>
            <a:r>
              <a:t>**3rd Quartile (Q3):** 6.0, meaning 75% of days had 6 or fewer fraud transactions.</a:t>
            </a:r>
          </a:p>
          <a:p>
            <a:pPr>
              <a:defRPr sz="1800"/>
            </a:pPr>
            <a:r>
              <a:t>**Minimum:** 1 fraud transaction on a single day.</a:t>
            </a:r>
          </a:p>
          <a:p>
            <a:pPr>
              <a:defRPr sz="1800"/>
            </a:pPr>
            <a:r>
              <a:t>**Maximum:** 6 fraud transactions on a single 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1CACE3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621</TotalTime>
  <Words>238</Words>
  <Application>Microsoft Macintosh PowerPoint</Application>
  <PresentationFormat>On-screen Show (4:3)</PresentationFormat>
  <Paragraphs>22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Century Gothic</vt:lpstr>
      <vt:lpstr>Wingdings 3</vt:lpstr>
      <vt:lpstr>Wisp</vt:lpstr>
      <vt:lpstr>Fraud Transaction Overview</vt:lpstr>
      <vt:lpstr>Summary of Fraud and Non-Fraud Transactions</vt:lpstr>
      <vt:lpstr>Fraud Transactions Per Currency</vt:lpstr>
      <vt:lpstr>Daily and Cumulative Fraud Transactions</vt:lpstr>
      <vt:lpstr>Descriptive Statistics: Daily Fraud Transactions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Evan Frederic Gloria</cp:lastModifiedBy>
  <cp:revision>2</cp:revision>
  <dcterms:created xsi:type="dcterms:W3CDTF">2013-01-27T09:14:16Z</dcterms:created>
  <dcterms:modified xsi:type="dcterms:W3CDTF">2026-04-14T10:38:03Z</dcterms:modified>
  <cp:category/>
</cp:coreProperties>
</file>